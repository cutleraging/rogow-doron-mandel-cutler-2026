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87337"/>
  </p:normalViewPr>
  <p:slideViewPr>
    <p:cSldViewPr snapToGrid="0">
      <p:cViewPr>
        <p:scale>
          <a:sx n="210" d="100"/>
          <a:sy n="210" d="100"/>
        </p:scale>
        <p:origin x="12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17515-552C-C041-BD22-D94E4F97A9C2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22748-7869-EB40-ACB3-1DFB3F1D7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3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Motif 5 GACAGCAGAU - matches HNRNPL, in proteomics data</a:t>
            </a:r>
          </a:p>
          <a:p>
            <a:r>
              <a:rPr lang="en-US" sz="1200" dirty="0"/>
              <a:t>Motif 4 UGACAAA - matches IGFBP2, not in proteomics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2748-7869-EB40-ACB3-1DFB3F1D75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44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Actb</a:t>
            </a:r>
            <a:r>
              <a:rPr lang="en-US" dirty="0"/>
              <a:t> </a:t>
            </a:r>
            <a:r>
              <a:rPr lang="en-US" dirty="0" err="1"/>
              <a:t>oRNAment</a:t>
            </a:r>
            <a:r>
              <a:rPr lang="en-US" dirty="0"/>
              <a:t> RBPs</a:t>
            </a:r>
          </a:p>
          <a:p>
            <a:r>
              <a:rPr lang="en-US" dirty="0"/>
              <a:t>5 detected </a:t>
            </a:r>
            <a:r>
              <a:rPr lang="en-US" dirty="0" err="1"/>
              <a:t>pval</a:t>
            </a:r>
            <a:r>
              <a:rPr lang="en-US" dirty="0"/>
              <a:t> &lt; 1</a:t>
            </a:r>
          </a:p>
          <a:p>
            <a:endParaRPr lang="en-US" dirty="0"/>
          </a:p>
          <a:p>
            <a:r>
              <a:rPr lang="en-US" dirty="0"/>
              <a:t>Arc </a:t>
            </a:r>
            <a:r>
              <a:rPr lang="en-US" dirty="0" err="1"/>
              <a:t>oRNAment</a:t>
            </a:r>
            <a:r>
              <a:rPr lang="en-US" dirty="0"/>
              <a:t> RBPs</a:t>
            </a:r>
          </a:p>
          <a:p>
            <a:r>
              <a:rPr lang="en-US" dirty="0"/>
              <a:t>2 detected </a:t>
            </a:r>
            <a:r>
              <a:rPr lang="en-US" dirty="0" err="1"/>
              <a:t>pval</a:t>
            </a:r>
            <a:r>
              <a:rPr lang="en-US" dirty="0"/>
              <a:t> &lt; 1</a:t>
            </a:r>
          </a:p>
          <a:p>
            <a:endParaRPr lang="en-US" dirty="0"/>
          </a:p>
          <a:p>
            <a:r>
              <a:rPr lang="en-US" dirty="0"/>
              <a:t>UUUUUUUUUUU motif present in 33/69 sequences</a:t>
            </a:r>
          </a:p>
          <a:p>
            <a:r>
              <a:rPr lang="en-US" dirty="0"/>
              <a:t>But not in target sequence</a:t>
            </a:r>
          </a:p>
          <a:p>
            <a:r>
              <a:rPr lang="en-US" dirty="0"/>
              <a:t>But matches previously known motif from RBP</a:t>
            </a:r>
          </a:p>
          <a:p>
            <a:r>
              <a:rPr lang="en-US" dirty="0"/>
              <a:t>But not detected in proteins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22748-7869-EB40-ACB3-1DFB3F1D75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2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0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8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3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2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2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4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4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8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81A35-0219-B140-9175-8EBCF0B81C50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37A51-A48C-1D44-895A-4492C9037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2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BB337C90-ABB4-EA68-D5C7-5787D75A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034" y="3453924"/>
            <a:ext cx="3657600" cy="261257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F2251DF-E16B-E8C3-B371-621A5828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034" y="568544"/>
            <a:ext cx="3657600" cy="1567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41FFB1-21C6-6C3C-5DF3-8449B2154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" y="126491"/>
            <a:ext cx="2743200" cy="27432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817DD12-FE53-561D-E4FF-62E52B2489FB}"/>
              </a:ext>
            </a:extLst>
          </p:cNvPr>
          <p:cNvSpPr txBox="1"/>
          <p:nvPr/>
        </p:nvSpPr>
        <p:spPr>
          <a:xfrm>
            <a:off x="4903619" y="3188398"/>
            <a:ext cx="19543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57/69 sequences contained hits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4E9A7E-6F06-3F6F-901E-473948DC5CAD}"/>
              </a:ext>
            </a:extLst>
          </p:cNvPr>
          <p:cNvSpPr txBox="1"/>
          <p:nvPr/>
        </p:nvSpPr>
        <p:spPr>
          <a:xfrm>
            <a:off x="4675805" y="371187"/>
            <a:ext cx="18165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7/7 sequences contained hits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53804D3-E5E7-BD22-34A3-C756E2BE9C83}"/>
              </a:ext>
            </a:extLst>
          </p:cNvPr>
          <p:cNvSpPr txBox="1"/>
          <p:nvPr/>
        </p:nvSpPr>
        <p:spPr>
          <a:xfrm>
            <a:off x="-45069" y="-5817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CA13C4-86D7-37EE-E202-EDC5B01B7D29}"/>
              </a:ext>
            </a:extLst>
          </p:cNvPr>
          <p:cNvSpPr txBox="1"/>
          <p:nvPr/>
        </p:nvSpPr>
        <p:spPr>
          <a:xfrm>
            <a:off x="2859382" y="-5817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8BBD47C-AB62-605C-F72A-BF6E160574DF}"/>
              </a:ext>
            </a:extLst>
          </p:cNvPr>
          <p:cNvGrpSpPr/>
          <p:nvPr/>
        </p:nvGrpSpPr>
        <p:grpSpPr>
          <a:xfrm>
            <a:off x="3687316" y="32633"/>
            <a:ext cx="2188880" cy="496929"/>
            <a:chOff x="3741933" y="58192"/>
            <a:chExt cx="2009286" cy="456157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63AB113-CC58-6799-8CF5-66D3C9CD0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9175" t="17110" b="53115"/>
            <a:stretch>
              <a:fillRect/>
            </a:stretch>
          </p:blipFill>
          <p:spPr>
            <a:xfrm>
              <a:off x="3741933" y="58192"/>
              <a:ext cx="1101901" cy="456157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1F32643-A747-0327-B432-8F8FE42BA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9175" t="47119" b="29513"/>
            <a:stretch>
              <a:fillRect/>
            </a:stretch>
          </p:blipFill>
          <p:spPr>
            <a:xfrm>
              <a:off x="4649318" y="156351"/>
              <a:ext cx="1101901" cy="357998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C461CB9-F815-87A5-CA89-BACFEE6C5BEF}"/>
              </a:ext>
            </a:extLst>
          </p:cNvPr>
          <p:cNvGrpSpPr/>
          <p:nvPr/>
        </p:nvGrpSpPr>
        <p:grpSpPr>
          <a:xfrm>
            <a:off x="3690982" y="2869691"/>
            <a:ext cx="2727783" cy="490681"/>
            <a:chOff x="3731222" y="2491896"/>
            <a:chExt cx="2428660" cy="4368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5D8426B-734F-8D88-468C-6587C87B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453" t="31869" b="51453"/>
            <a:stretch>
              <a:fillRect/>
            </a:stretch>
          </p:blipFill>
          <p:spPr>
            <a:xfrm>
              <a:off x="3731222" y="2491896"/>
              <a:ext cx="1245416" cy="436874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DF4E6E9-47CC-F9B6-6FD1-C03910FC6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453" t="48369" b="40000"/>
            <a:stretch>
              <a:fillRect/>
            </a:stretch>
          </p:blipFill>
          <p:spPr>
            <a:xfrm>
              <a:off x="4914466" y="2558001"/>
              <a:ext cx="1245416" cy="304664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20F35CC6-7CA0-555C-B8C5-375C52998A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4" y="2929464"/>
            <a:ext cx="2743200" cy="27432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86989181-F5C0-871E-47B0-F34FC4569E1C}"/>
              </a:ext>
            </a:extLst>
          </p:cNvPr>
          <p:cNvSpPr txBox="1"/>
          <p:nvPr/>
        </p:nvSpPr>
        <p:spPr>
          <a:xfrm>
            <a:off x="-62701" y="2797264"/>
            <a:ext cx="3289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5C623E-73FD-937B-4FE7-72C204810CA5}"/>
              </a:ext>
            </a:extLst>
          </p:cNvPr>
          <p:cNvSpPr txBox="1"/>
          <p:nvPr/>
        </p:nvSpPr>
        <p:spPr>
          <a:xfrm>
            <a:off x="3015034" y="2797264"/>
            <a:ext cx="330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010CF0-72A7-4AA7-6F8D-0AD5512BDBDE}"/>
              </a:ext>
            </a:extLst>
          </p:cNvPr>
          <p:cNvSpPr txBox="1"/>
          <p:nvPr/>
        </p:nvSpPr>
        <p:spPr>
          <a:xfrm>
            <a:off x="1175918" y="6160047"/>
            <a:ext cx="36870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Try to use de novo motifs to search opposite database</a:t>
            </a:r>
          </a:p>
          <a:p>
            <a:endParaRPr lang="en-US" dirty="0"/>
          </a:p>
          <a:p>
            <a:r>
              <a:rPr lang="en-US" dirty="0"/>
              <a:t>Try to search for motifs from a random sample of genes</a:t>
            </a:r>
          </a:p>
          <a:p>
            <a:endParaRPr lang="en-US" dirty="0"/>
          </a:p>
          <a:p>
            <a:r>
              <a:rPr lang="en-US" dirty="0"/>
              <a:t>Try to search de novo and </a:t>
            </a:r>
            <a:r>
              <a:rPr lang="en-US" dirty="0" err="1"/>
              <a:t>oRNAment</a:t>
            </a:r>
            <a:r>
              <a:rPr lang="en-US" dirty="0"/>
              <a:t> using this database https://</a:t>
            </a:r>
            <a:r>
              <a:rPr lang="en-US" dirty="0" err="1"/>
              <a:t>hugheslab.ccbr.utoronto.ca</a:t>
            </a:r>
            <a:r>
              <a:rPr lang="en-US" dirty="0"/>
              <a:t>/supplementary-data/</a:t>
            </a:r>
            <a:r>
              <a:rPr lang="en-US" dirty="0" err="1"/>
              <a:t>RBPZoo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5477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7AA7059C-F384-DAA7-59F3-6B2DAEF0F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84" y="2206059"/>
            <a:ext cx="1463040" cy="14630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8AE3DF-F5C8-6E16-1AEC-1C80B9AEB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" y="3499822"/>
            <a:ext cx="3200400" cy="457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98A2E9-E09F-6686-4583-DFF2D9AA32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956" t="40551" b="44390"/>
          <a:stretch>
            <a:fillRect/>
          </a:stretch>
        </p:blipFill>
        <p:spPr>
          <a:xfrm>
            <a:off x="2224087" y="7128045"/>
            <a:ext cx="1174793" cy="7011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12D5CB2-E083-76F2-C9B7-055FF15BC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416" y="1828383"/>
            <a:ext cx="3200400" cy="3200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4094482-AA84-92CD-361A-EA7E80225E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8880" y="227340"/>
            <a:ext cx="1905418" cy="142906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B45E311-44AF-B8AB-B3DA-FD3B7F28ED28}"/>
              </a:ext>
            </a:extLst>
          </p:cNvPr>
          <p:cNvSpPr txBox="1"/>
          <p:nvPr/>
        </p:nvSpPr>
        <p:spPr>
          <a:xfrm>
            <a:off x="0" y="2463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4DEA6A-0DDC-0C30-1EAC-2B1318A6AA17}"/>
              </a:ext>
            </a:extLst>
          </p:cNvPr>
          <p:cNvSpPr txBox="1"/>
          <p:nvPr/>
        </p:nvSpPr>
        <p:spPr>
          <a:xfrm>
            <a:off x="1629109" y="2463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15798E5-71C3-5B8A-6557-88373B27E8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84" y="229497"/>
            <a:ext cx="1463040" cy="1828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656185-A0DC-37D4-F3D6-854B8A323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6880" y="229497"/>
            <a:ext cx="1463040" cy="1828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1283B38-D84C-5238-CD4E-B0861003F01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7832" t="43886" b="49559"/>
          <a:stretch>
            <a:fillRect/>
          </a:stretch>
        </p:blipFill>
        <p:spPr>
          <a:xfrm>
            <a:off x="5487400" y="4563223"/>
            <a:ext cx="1278159" cy="26043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12C2AD2-9518-7D29-E600-3F07989EEA22}"/>
              </a:ext>
            </a:extLst>
          </p:cNvPr>
          <p:cNvSpPr txBox="1"/>
          <p:nvPr/>
        </p:nvSpPr>
        <p:spPr>
          <a:xfrm>
            <a:off x="-9616" y="3499822"/>
            <a:ext cx="330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C949C1-9B71-CC0B-C493-DF070C7A898E}"/>
              </a:ext>
            </a:extLst>
          </p:cNvPr>
          <p:cNvSpPr txBox="1"/>
          <p:nvPr/>
        </p:nvSpPr>
        <p:spPr>
          <a:xfrm>
            <a:off x="3286576" y="22475"/>
            <a:ext cx="301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334C05-4E88-A3FD-E933-B797877BCCD5}"/>
              </a:ext>
            </a:extLst>
          </p:cNvPr>
          <p:cNvSpPr txBox="1"/>
          <p:nvPr/>
        </p:nvSpPr>
        <p:spPr>
          <a:xfrm>
            <a:off x="3307080" y="165910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C9EE48-9360-4AAE-BC7A-57ECA5A305C7}"/>
              </a:ext>
            </a:extLst>
          </p:cNvPr>
          <p:cNvSpPr txBox="1"/>
          <p:nvPr/>
        </p:nvSpPr>
        <p:spPr>
          <a:xfrm>
            <a:off x="0" y="2093885"/>
            <a:ext cx="3289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07F7596-0933-EAAB-A060-2B5210D8CD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0" y="193909"/>
            <a:ext cx="1463040" cy="146304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FDF0B6F-45AC-A524-9D44-43F00CCC2E3A}"/>
              </a:ext>
            </a:extLst>
          </p:cNvPr>
          <p:cNvSpPr txBox="1"/>
          <p:nvPr/>
        </p:nvSpPr>
        <p:spPr>
          <a:xfrm>
            <a:off x="5298224" y="22475"/>
            <a:ext cx="295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3926F-7768-7E9D-ADFB-EA105DA02778}"/>
              </a:ext>
            </a:extLst>
          </p:cNvPr>
          <p:cNvSpPr txBox="1"/>
          <p:nvPr/>
        </p:nvSpPr>
        <p:spPr>
          <a:xfrm>
            <a:off x="1706112" y="2298943"/>
            <a:ext cx="138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Pvalue</a:t>
            </a:r>
            <a:r>
              <a:rPr lang="en-US" dirty="0"/>
              <a:t> = 0.1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4664B8-71A8-D373-C818-E71AC81ADBDC}"/>
              </a:ext>
            </a:extLst>
          </p:cNvPr>
          <p:cNvSpPr txBox="1"/>
          <p:nvPr/>
        </p:nvSpPr>
        <p:spPr>
          <a:xfrm>
            <a:off x="1629109" y="2723787"/>
            <a:ext cx="21916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IGF2BP2 is same as </a:t>
            </a:r>
          </a:p>
          <a:p>
            <a:r>
              <a:rPr lang="en-US" dirty="0"/>
              <a:t>ZBP2</a:t>
            </a:r>
          </a:p>
          <a:p>
            <a:r>
              <a:rPr lang="en-US" dirty="0"/>
              <a:t>Common binder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0ECB8B-C5BB-5807-EF4A-F80678C44CC5}"/>
              </a:ext>
            </a:extLst>
          </p:cNvPr>
          <p:cNvSpPr txBox="1"/>
          <p:nvPr/>
        </p:nvSpPr>
        <p:spPr>
          <a:xfrm>
            <a:off x="2125526" y="5350284"/>
            <a:ext cx="464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if these results can be clustered based on the types of motifs being enriched </a:t>
            </a:r>
          </a:p>
        </p:txBody>
      </p:sp>
    </p:spTree>
    <p:extLst>
      <p:ext uri="{BB962C8B-B14F-4D97-AF65-F5344CB8AC3E}">
        <p14:creationId xmlns:p14="http://schemas.microsoft.com/office/powerpoint/2010/main" val="160702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078448-F597-8879-8321-D3C013F13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3" y="2141089"/>
            <a:ext cx="3657600" cy="365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A5635E-9E60-50BB-DAB2-785611135AA2}"/>
              </a:ext>
            </a:extLst>
          </p:cNvPr>
          <p:cNvSpPr txBox="1"/>
          <p:nvPr/>
        </p:nvSpPr>
        <p:spPr>
          <a:xfrm>
            <a:off x="1676356" y="7160661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oRNAMENT</a:t>
            </a:r>
            <a:r>
              <a:rPr lang="en-US" dirty="0"/>
              <a:t> motif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6E62D-A17B-8F04-C21C-9DDDADB22BB3}"/>
              </a:ext>
            </a:extLst>
          </p:cNvPr>
          <p:cNvSpPr txBox="1"/>
          <p:nvPr/>
        </p:nvSpPr>
        <p:spPr>
          <a:xfrm>
            <a:off x="5251724" y="70057"/>
            <a:ext cx="16062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Actb</a:t>
            </a:r>
            <a:r>
              <a:rPr lang="en-US" dirty="0"/>
              <a:t> – no overlap between </a:t>
            </a:r>
            <a:r>
              <a:rPr lang="en-US" dirty="0" err="1"/>
              <a:t>oRNAment</a:t>
            </a:r>
            <a:r>
              <a:rPr lang="en-US" dirty="0"/>
              <a:t> RBPs and proteins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5F01D-8F0F-FDD8-2DDD-AB28C2D1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961"/>
          <a:stretch>
            <a:fillRect/>
          </a:stretch>
        </p:blipFill>
        <p:spPr>
          <a:xfrm>
            <a:off x="3868689" y="-47063"/>
            <a:ext cx="1052933" cy="2423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73EEAF-2AED-4BCD-49DD-9F49C6B68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70" y="163449"/>
            <a:ext cx="3657600" cy="1567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FBE166-C179-92B2-DC23-BC8946F0EE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652" t="31681" b="39221"/>
          <a:stretch>
            <a:fillRect/>
          </a:stretch>
        </p:blipFill>
        <p:spPr>
          <a:xfrm>
            <a:off x="2561076" y="4740142"/>
            <a:ext cx="1125411" cy="8552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E4DAC4-9065-70F7-4E34-48B4041C8B2E}"/>
              </a:ext>
            </a:extLst>
          </p:cNvPr>
          <p:cNvSpPr txBox="1"/>
          <p:nvPr/>
        </p:nvSpPr>
        <p:spPr>
          <a:xfrm>
            <a:off x="0" y="-5828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34CA4D-5597-40E0-5F21-984C46050F45}"/>
              </a:ext>
            </a:extLst>
          </p:cNvPr>
          <p:cNvSpPr txBox="1"/>
          <p:nvPr/>
        </p:nvSpPr>
        <p:spPr>
          <a:xfrm>
            <a:off x="0" y="2037453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225E2-8E33-3D92-649D-4A462F058371}"/>
              </a:ext>
            </a:extLst>
          </p:cNvPr>
          <p:cNvSpPr txBox="1"/>
          <p:nvPr/>
        </p:nvSpPr>
        <p:spPr>
          <a:xfrm>
            <a:off x="5138451" y="2648520"/>
            <a:ext cx="16062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 – no overlap between </a:t>
            </a:r>
            <a:r>
              <a:rPr lang="en-US" dirty="0" err="1"/>
              <a:t>oRNAment</a:t>
            </a:r>
            <a:r>
              <a:rPr lang="en-US" dirty="0"/>
              <a:t> RBPs and proteins</a:t>
            </a:r>
          </a:p>
        </p:txBody>
      </p:sp>
    </p:spTree>
    <p:extLst>
      <p:ext uri="{BB962C8B-B14F-4D97-AF65-F5344CB8AC3E}">
        <p14:creationId xmlns:p14="http://schemas.microsoft.com/office/powerpoint/2010/main" val="325423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4244</TotalTime>
  <Words>174</Words>
  <Application>Microsoft Macintosh PowerPoint</Application>
  <PresentationFormat>A4 Paper (210x297 mm)</PresentationFormat>
  <Paragraphs>42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 Cutler</dc:creator>
  <cp:lastModifiedBy>Ronald Cutler</cp:lastModifiedBy>
  <cp:revision>25</cp:revision>
  <dcterms:created xsi:type="dcterms:W3CDTF">2025-11-09T20:35:39Z</dcterms:created>
  <dcterms:modified xsi:type="dcterms:W3CDTF">2025-11-12T19:19:41Z</dcterms:modified>
</cp:coreProperties>
</file>